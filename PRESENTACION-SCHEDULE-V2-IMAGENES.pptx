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</p:sldIdLst>
  <p:sldSz cx="12192000" cy="6858000"/>
  <p:notesSz cx="6797675" cy="9926638"/>
  <p:embeddedFontLst>
    <p:embeddedFont>
      <p:font typeface="Arial Black" panose="020B0A04020102020204" pitchFamily="34" charset="0"/>
      <p:regular r:id="rId9"/>
      <p:bold r:id="rId10"/>
    </p:embeddedFont>
    <p:embeddedFont>
      <p:font typeface="Trebuchet MS" panose="020B0603020202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kktjOy+o6RHwlapDb8nQ1I5Zu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0"/>
    <p:restoredTop sz="94632"/>
  </p:normalViewPr>
  <p:slideViewPr>
    <p:cSldViewPr snapToGrid="0">
      <p:cViewPr>
        <p:scale>
          <a:sx n="100" d="100"/>
          <a:sy n="100" d="100"/>
        </p:scale>
        <p:origin x="-8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customschemas.google.com/relationships/presentationmetadata" Target="meta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66cf398b2f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166cf398b2f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166cf398b2f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66cf398b2f_0_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166cf398b2f_0_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66cf398b2f_0_2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2" name="Google Shape;22;g166cf398b2f_0_2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g166cf398b2f_0_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66cf398b2f_0_2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26" name="Google Shape;26;g166cf398b2f_0_2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66cf398b2f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166cf398b2f_0_3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0" name="Google Shape;30;g166cf398b2f_0_3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g166cf398b2f_0_3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g166cf398b2f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66cf398b2f_0_3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35" name="Google Shape;35;g166cf398b2f_0_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66cf398b2f_0_3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8" name="Google Shape;38;g166cf398b2f_0_3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g166cf398b2f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66cf398b2f_0_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66cf398b2f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166cf398b2f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166cf398b2f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091E41"/>
                </a:solidFill>
              </a:rPr>
              <a:t>Schedule Desktop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595E6B"/>
                </a:solidFill>
              </a:rPr>
              <a:t>Sistema académico full-stack para gestión de horarios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95E6B"/>
                </a:solidFill>
              </a:rPr>
              <a:t>Spring Boot + React + Electron + PostgreSQL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95E6B"/>
                </a:solidFill>
              </a:rPr>
              <a:t>Julio de 2026</a:t>
            </a:r>
          </a:p>
        </p:txBody>
      </p:sp>
      <p:pic>
        <p:nvPicPr>
          <p:cNvPr id="4" name="Picture 3" descr="logo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15568"/>
            <a:ext cx="1147603" cy="1143000"/>
          </a:xfrm>
          <a:prstGeom prst="rect">
            <a:avLst/>
          </a:prstGeom>
        </p:spPr>
      </p:pic>
      <p:pic>
        <p:nvPicPr>
          <p:cNvPr id="5" name="Picture 4" descr="schedule_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251960"/>
            <a:ext cx="530352" cy="530352"/>
          </a:xfrm>
          <a:prstGeom prst="rect">
            <a:avLst/>
          </a:prstGeom>
        </p:spPr>
      </p:pic>
      <p:pic>
        <p:nvPicPr>
          <p:cNvPr id="6" name="Picture 5" descr="schedule_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4251960"/>
            <a:ext cx="595483" cy="530352"/>
          </a:xfrm>
          <a:prstGeom prst="rect">
            <a:avLst/>
          </a:prstGeom>
        </p:spPr>
      </p:pic>
      <p:pic>
        <p:nvPicPr>
          <p:cNvPr id="7" name="Picture 6" descr="schedule_postgresq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4251960"/>
            <a:ext cx="514165" cy="530352"/>
          </a:xfrm>
          <a:prstGeom prst="rect">
            <a:avLst/>
          </a:prstGeom>
        </p:spPr>
      </p:pic>
      <p:pic>
        <p:nvPicPr>
          <p:cNvPr id="8" name="Picture 7" descr="schedule_electr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251960"/>
            <a:ext cx="53035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06440"/>
            <a:ext cx="6217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700" b="0">
                <a:solidFill>
                  <a:srgbClr val="595E6B"/>
                </a:solidFill>
              </a:rPr>
              <a:t>Imágenes técnicas: Wikimedia Commons y PostgreSQL Wiki. Logo institucional: asset local del proyecto.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91E41"/>
                </a:solidFill>
              </a:rPr>
              <a:t>Capítulo I: 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100" b="0">
                <a:solidFill>
                  <a:srgbClr val="595E6B"/>
                </a:solidFill>
              </a:rPr>
              <a:t>Contexto, problema y objetivo del sistema.</a:t>
            </a:r>
          </a:p>
        </p:txBody>
      </p:sp>
      <p:pic>
        <p:nvPicPr>
          <p:cNvPr id="4" name="Picture 3" descr="schedule_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11680"/>
            <a:ext cx="1488707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Problema identificado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La planificación manual cruza docentes, cursos, ciclos, turnos, ambientes y reglas institucionales.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Los errores más frecuentes son cruces de docentes, ambientes duplicados y cursos fuera de turno.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La información dispersa hace lenta la revisión de cambios y propuestas.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325880"/>
            <a:ext cx="182880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93992" y="1463040"/>
            <a:ext cx="149961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74BF"/>
                </a:solidFill>
              </a:rPr>
              <a:t>Docentes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Disponibilidad y carga horaria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325880"/>
            <a:ext cx="182880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5672" y="1463040"/>
            <a:ext cx="149961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5B540"/>
                </a:solidFill>
              </a:rPr>
              <a:t>Cursos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Ciclos, turnos y créditos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514600"/>
            <a:ext cx="182880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2651760"/>
            <a:ext cx="149961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4D9B"/>
                </a:solidFill>
              </a:rPr>
              <a:t>Ambientes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Aulas y laboratorios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514600"/>
            <a:ext cx="1828800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2651760"/>
            <a:ext cx="149961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E843F"/>
                </a:solidFill>
              </a:rPr>
              <a:t>Horarios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Bloques lectivos y reglas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977639"/>
            <a:ext cx="3566160" cy="411480"/>
          </a:xfrm>
          <a:prstGeom prst="roundRect">
            <a:avLst/>
          </a:prstGeom>
          <a:solidFill>
            <a:srgbClr val="C53D46"/>
          </a:solidFill>
          <a:ln>
            <a:solidFill>
              <a:srgbClr val="C53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Riesgo: cruces y asignaciones incompatibles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Propuesta de solución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Schedule centraliza la información académica en una sola aplicación.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El backend valida reglas y guarda datos reales.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El frontend permite administrar y revisar horarios visualmente.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Electron presenta el sistema como aplicación de escritorio.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1234440"/>
            <a:ext cx="1371600" cy="411480"/>
          </a:xfrm>
          <a:prstGeom prst="roundRect">
            <a:avLst/>
          </a:prstGeom>
          <a:solidFill>
            <a:srgbClr val="1D74BF"/>
          </a:solidFill>
          <a:ln>
            <a:solidFill>
              <a:srgbClr val="1D7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2057400"/>
            <a:ext cx="1554480" cy="411480"/>
          </a:xfrm>
          <a:prstGeom prst="roundRect">
            <a:avLst/>
          </a:prstGeom>
          <a:solidFill>
            <a:srgbClr val="44C4E6"/>
          </a:solidFill>
          <a:ln>
            <a:solidFill>
              <a:srgbClr val="44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2880360"/>
            <a:ext cx="2377440" cy="411480"/>
          </a:xfrm>
          <a:prstGeom prst="roundRect">
            <a:avLst/>
          </a:prstGeom>
          <a:solidFill>
            <a:srgbClr val="65B540"/>
          </a:solidFill>
          <a:ln>
            <a:solidFill>
              <a:srgbClr val="65B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Spring Boot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703320"/>
            <a:ext cx="2011680" cy="411480"/>
          </a:xfrm>
          <a:prstGeom prst="roundRect">
            <a:avLst/>
          </a:prstGeom>
          <a:solidFill>
            <a:srgbClr val="5B4D9B"/>
          </a:solidFill>
          <a:ln>
            <a:solidFill>
              <a:srgbClr val="5B4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PostgreSQL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1673352"/>
            <a:ext cx="0" cy="320040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496312"/>
            <a:ext cx="0" cy="320040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21040" y="3319271"/>
            <a:ext cx="0" cy="320041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chedule_elec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388620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Objetivo general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900" b="0">
                <a:solidFill>
                  <a:srgbClr val="091E41"/>
                </a:solidFill>
              </a:rPr>
              <a:t>Desarrollar una aplicación académica capaz de gestionar docentes, cursos, ambientes, usuarios y horarios.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091E41"/>
                </a:solidFill>
              </a:rPr>
              <a:t>Aplicar reglas de negocio para apoyar la generación y revisión de propuestas de horario.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091E41"/>
                </a:solidFill>
              </a:rPr>
              <a:t>Demostrar una solución funcional con arquitectura full-stack y persistencia real.</a:t>
            </a:r>
          </a:p>
        </p:txBody>
      </p:sp>
      <p:pic>
        <p:nvPicPr>
          <p:cNvPr id="4" name="Picture 3" descr="logo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1423027" cy="1417320"/>
          </a:xfrm>
          <a:prstGeom prst="rect">
            <a:avLst/>
          </a:prstGeom>
        </p:spPr>
      </p:pic>
      <p:pic>
        <p:nvPicPr>
          <p:cNvPr id="5" name="Picture 4" descr="schedule_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429000"/>
            <a:ext cx="713232" cy="713232"/>
          </a:xfrm>
          <a:prstGeom prst="rect">
            <a:avLst/>
          </a:prstGeom>
        </p:spPr>
      </p:pic>
      <p:pic>
        <p:nvPicPr>
          <p:cNvPr id="6" name="Picture 5" descr="schedule_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3429000"/>
            <a:ext cx="800822" cy="713232"/>
          </a:xfrm>
          <a:prstGeom prst="rect">
            <a:avLst/>
          </a:prstGeom>
        </p:spPr>
      </p:pic>
      <p:pic>
        <p:nvPicPr>
          <p:cNvPr id="7" name="Picture 6" descr="schedule_postgresq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3429000"/>
            <a:ext cx="691464" cy="713232"/>
          </a:xfrm>
          <a:prstGeom prst="rect">
            <a:avLst/>
          </a:prstGeom>
        </p:spPr>
      </p:pic>
      <p:pic>
        <p:nvPicPr>
          <p:cNvPr id="8" name="Picture 7" descr="schedule_electr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912" y="34290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Objetivos específicos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API REST con Spring Boot para administrar entidades académicas.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Persistencia en PostgreSQL.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Autenticación JWT y roles de usuario.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Interfaz React para operar el sistema visualmente.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Integración con Electron para uso de escritorio.</a:t>
            </a:r>
          </a:p>
        </p:txBody>
      </p:sp>
      <p:pic>
        <p:nvPicPr>
          <p:cNvPr id="4" name="Picture 3" descr="schedule_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45920"/>
            <a:ext cx="868680" cy="868680"/>
          </a:xfrm>
          <a:prstGeom prst="rect">
            <a:avLst/>
          </a:prstGeom>
        </p:spPr>
      </p:pic>
      <p:pic>
        <p:nvPicPr>
          <p:cNvPr id="5" name="Picture 4" descr="schedule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1" y="1645920"/>
            <a:ext cx="975360" cy="868680"/>
          </a:xfrm>
          <a:prstGeom prst="rect">
            <a:avLst/>
          </a:prstGeom>
        </p:spPr>
      </p:pic>
      <p:pic>
        <p:nvPicPr>
          <p:cNvPr id="6" name="Picture 5" descr="schedule_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3" y="1645920"/>
            <a:ext cx="842167" cy="868680"/>
          </a:xfrm>
          <a:prstGeom prst="rect">
            <a:avLst/>
          </a:prstGeom>
        </p:spPr>
      </p:pic>
      <p:pic>
        <p:nvPicPr>
          <p:cNvPr id="7" name="Picture 6" descr="schedule_electr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5" y="16459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91E41"/>
                </a:solidFill>
              </a:rPr>
              <a:t>Capítulo II: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100" b="0">
                <a:solidFill>
                  <a:srgbClr val="595E6B"/>
                </a:solidFill>
              </a:rPr>
              <a:t>Arquitectura, componentes y flujo de trabajo.</a:t>
            </a:r>
          </a:p>
        </p:txBody>
      </p:sp>
      <p:pic>
        <p:nvPicPr>
          <p:cNvPr id="4" name="Picture 3" descr="schedule_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1168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Arquitectura full-stack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600200"/>
            <a:ext cx="22402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1737360"/>
            <a:ext cx="1911096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4C4E6"/>
                </a:solidFill>
              </a:rPr>
              <a:t>Frontend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React + Vite</a:t>
            </a:r>
            <a:br/>
            <a:r>
              <a:rPr sz="1100">
                <a:solidFill>
                  <a:srgbClr val="091E41"/>
                </a:solidFill>
              </a:rPr>
              <a:t>Vistas y consumo API</a:t>
            </a:r>
          </a:p>
        </p:txBody>
      </p:sp>
      <p:pic>
        <p:nvPicPr>
          <p:cNvPr id="5" name="Picture 4" descr="schedule_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3593592"/>
            <a:ext cx="770021" cy="6858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3017520" y="2468880"/>
            <a:ext cx="457200" cy="0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20440" y="1600200"/>
            <a:ext cx="22402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737360"/>
            <a:ext cx="1911096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5B540"/>
                </a:solidFill>
              </a:rPr>
              <a:t>Backend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Spring Boot</a:t>
            </a:r>
            <a:br/>
            <a:r>
              <a:rPr sz="1100">
                <a:solidFill>
                  <a:srgbClr val="091E41"/>
                </a:solidFill>
              </a:rPr>
              <a:t>REST, seguridad y reglas</a:t>
            </a:r>
          </a:p>
        </p:txBody>
      </p:sp>
      <p:pic>
        <p:nvPicPr>
          <p:cNvPr id="9" name="Picture 8" descr="schedule_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3593592"/>
            <a:ext cx="685800" cy="68580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760720" y="2468880"/>
            <a:ext cx="457200" cy="0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1600200"/>
            <a:ext cx="22402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37360"/>
            <a:ext cx="1911096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4D9B"/>
                </a:solidFill>
              </a:rPr>
              <a:t>Base de datos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PostgreSQL</a:t>
            </a:r>
            <a:br/>
            <a:r>
              <a:rPr sz="1100">
                <a:solidFill>
                  <a:srgbClr val="091E41"/>
                </a:solidFill>
              </a:rPr>
              <a:t>Persistencia relacional</a:t>
            </a:r>
          </a:p>
        </p:txBody>
      </p:sp>
      <p:pic>
        <p:nvPicPr>
          <p:cNvPr id="13" name="Picture 12" descr="schedule_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593592"/>
            <a:ext cx="664869" cy="6858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8503920" y="2468880"/>
            <a:ext cx="457200" cy="0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6840" y="1600200"/>
            <a:ext cx="22402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737360"/>
            <a:ext cx="1911096" cy="1645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74BF"/>
                </a:solidFill>
              </a:rPr>
              <a:t>Desktop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Electron</a:t>
            </a:r>
            <a:br/>
            <a:r>
              <a:rPr sz="1100">
                <a:solidFill>
                  <a:srgbClr val="091E41"/>
                </a:solidFill>
              </a:rPr>
              <a:t>Contenedor de escritorio</a:t>
            </a:r>
          </a:p>
        </p:txBody>
      </p:sp>
      <p:pic>
        <p:nvPicPr>
          <p:cNvPr id="17" name="Picture 16" descr="schedule_electr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3593592"/>
            <a:ext cx="685800" cy="6858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337560" y="4892040"/>
            <a:ext cx="4754880" cy="411480"/>
          </a:xfrm>
          <a:prstGeom prst="roundRect">
            <a:avLst/>
          </a:prstGeom>
          <a:solidFill>
            <a:srgbClr val="1D74BF"/>
          </a:solidFill>
          <a:ln>
            <a:solidFill>
              <a:srgbClr val="1D7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Datos + reglas + interfaz + escritorio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Backend: Spring Boot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Controladores REST para usuarios, docentes, cursos, ambientes, reglas y horarios.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Servicios con validaciones de negocio y cálculo de propuestas.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Repositorios JPA/Hibernate para persistencia relacional.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Seguridad con JWT y control de roles.</a:t>
            </a:r>
          </a:p>
        </p:txBody>
      </p:sp>
      <p:pic>
        <p:nvPicPr>
          <p:cNvPr id="4" name="Picture 3" descr="schedule_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417320"/>
            <a:ext cx="1828800" cy="1828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49440" y="3977639"/>
            <a:ext cx="2834640" cy="411480"/>
          </a:xfrm>
          <a:prstGeom prst="roundRect">
            <a:avLst/>
          </a:prstGeom>
          <a:solidFill>
            <a:srgbClr val="65B540"/>
          </a:solidFill>
          <a:ln>
            <a:solidFill>
              <a:srgbClr val="65B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API REST protegida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Frontend: React + Vite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Vistas de administración para operar entidades académicas.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Cliente HTTP centralizado para consumir la API.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Manejo de sesión/token en navegador.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Validaciones de interfaz antes de enviar datos.</a:t>
            </a:r>
          </a:p>
        </p:txBody>
      </p:sp>
      <p:pic>
        <p:nvPicPr>
          <p:cNvPr id="4" name="Picture 3" descr="schedule_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1950720" cy="1737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3886200"/>
            <a:ext cx="3703320" cy="411480"/>
          </a:xfrm>
          <a:prstGeom prst="roundRect">
            <a:avLst/>
          </a:prstGeom>
          <a:solidFill>
            <a:srgbClr val="44C4E6"/>
          </a:solidFill>
          <a:ln>
            <a:solidFill>
              <a:srgbClr val="44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Interfaz visual para gestión académica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Persistencia: PostgreSQL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Base de datos PostgreSQL 16 levantada con Docker Compose.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Datos persistentes en volumen local.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Soporte para usuarios, cursos, docentes, ambientes, reglas y asignaciones.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Estructura relacional adecuada para consultas y validaciones.</a:t>
            </a:r>
          </a:p>
        </p:txBody>
      </p:sp>
      <p:pic>
        <p:nvPicPr>
          <p:cNvPr id="4" name="Picture 3" descr="schedule_postgre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1684335" cy="1737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12280" y="3977639"/>
            <a:ext cx="3291840" cy="411480"/>
          </a:xfrm>
          <a:prstGeom prst="roundRect">
            <a:avLst/>
          </a:prstGeom>
          <a:solidFill>
            <a:srgbClr val="5B4D9B"/>
          </a:solidFill>
          <a:ln>
            <a:solidFill>
              <a:srgbClr val="5B4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Datos reales, no maqueta estática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Seguridad y sesión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El usuario inicia sesión y recibe un token JWT.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El frontend adjunta el token en solicitudes protegidas.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El backend valida credenciales, token y rol antes de permitir operaciones.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La separación de permisos ayuda a controlar acciones administrativas.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34440"/>
            <a:ext cx="2926080" cy="411480"/>
          </a:xfrm>
          <a:prstGeom prst="roundRect">
            <a:avLst/>
          </a:prstGeom>
          <a:solidFill>
            <a:srgbClr val="1D74BF"/>
          </a:solidFill>
          <a:ln>
            <a:solidFill>
              <a:srgbClr val="1D7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Login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863840" y="1627632"/>
            <a:ext cx="0" cy="265176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0" y="1984248"/>
            <a:ext cx="2926080" cy="411480"/>
          </a:xfrm>
          <a:prstGeom prst="roundRect">
            <a:avLst/>
          </a:prstGeom>
          <a:solidFill>
            <a:srgbClr val="65B540"/>
          </a:solidFill>
          <a:ln>
            <a:solidFill>
              <a:srgbClr val="65B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JWT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63840" y="2377440"/>
            <a:ext cx="0" cy="265176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2734056"/>
            <a:ext cx="2926080" cy="411480"/>
          </a:xfrm>
          <a:prstGeom prst="roundRect">
            <a:avLst/>
          </a:prstGeom>
          <a:solidFill>
            <a:srgbClr val="5B4D9B"/>
          </a:solidFill>
          <a:ln>
            <a:solidFill>
              <a:srgbClr val="5B4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Ruta protegida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3127248"/>
            <a:ext cx="0" cy="265176"/>
          </a:xfrm>
          <a:prstGeom prst="line">
            <a:avLst/>
          </a:prstGeom>
          <a:ln>
            <a:solidFill>
              <a:srgbClr val="595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3483864"/>
            <a:ext cx="2926080" cy="411480"/>
          </a:xfrm>
          <a:prstGeom prst="roundRect">
            <a:avLst/>
          </a:prstGeom>
          <a:solidFill>
            <a:srgbClr val="EE843F"/>
          </a:solidFill>
          <a:ln>
            <a:solidFill>
              <a:srgbClr val="EE8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Respuesta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091E41"/>
                </a:solidFill>
              </a:rPr>
              <a:t>Capítulo III: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100" b="0">
                <a:solidFill>
                  <a:srgbClr val="595E6B"/>
                </a:solidFill>
              </a:rPr>
              <a:t>Funcionalidades, impacto y cierre del proyecto.</a:t>
            </a:r>
          </a:p>
        </p:txBody>
      </p:sp>
      <p:pic>
        <p:nvPicPr>
          <p:cNvPr id="4" name="Picture 3" descr="schedule_postgre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11680"/>
            <a:ext cx="1285413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Funcionalidades logradas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Autenticación con JWT y manejo de roles.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Gestión de usuarios, docentes, cursos, ambientes y reglas horarias.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Asignación de docentes y ambientes a cursos.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Visualización y generación de propuestas de horario por ciclo.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34440"/>
            <a:ext cx="2560320" cy="411480"/>
          </a:xfrm>
          <a:prstGeom prst="roundRect">
            <a:avLst/>
          </a:prstGeom>
          <a:solidFill>
            <a:srgbClr val="1D74BF"/>
          </a:solidFill>
          <a:ln>
            <a:solidFill>
              <a:srgbClr val="1D7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01368"/>
            <a:ext cx="2560320" cy="411480"/>
          </a:xfrm>
          <a:prstGeom prst="roundRect">
            <a:avLst/>
          </a:prstGeom>
          <a:solidFill>
            <a:srgbClr val="65B540"/>
          </a:solidFill>
          <a:ln>
            <a:solidFill>
              <a:srgbClr val="65B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Docentes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368296"/>
            <a:ext cx="2560320" cy="411480"/>
          </a:xfrm>
          <a:prstGeom prst="roundRect">
            <a:avLst/>
          </a:prstGeom>
          <a:solidFill>
            <a:srgbClr val="5B4D9B"/>
          </a:solidFill>
          <a:ln>
            <a:solidFill>
              <a:srgbClr val="5B4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Cursos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935224"/>
            <a:ext cx="2560320" cy="411480"/>
          </a:xfrm>
          <a:prstGeom prst="roundRect">
            <a:avLst/>
          </a:prstGeom>
          <a:solidFill>
            <a:srgbClr val="EE843F"/>
          </a:solidFill>
          <a:ln>
            <a:solidFill>
              <a:srgbClr val="EE8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Ambientes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502152"/>
            <a:ext cx="2560320" cy="411480"/>
          </a:xfrm>
          <a:prstGeom prst="roundRect">
            <a:avLst/>
          </a:prstGeom>
          <a:solidFill>
            <a:srgbClr val="44C4E6"/>
          </a:solidFill>
          <a:ln>
            <a:solidFill>
              <a:srgbClr val="44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Horarios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Reglas académicas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Control de disponibilidad de docentes y ambientes.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Organización por ciclos, turnos y bloques académicos.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Prevención de cruces o asignaciones incompatibles.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Separación entre bloques lectivos y no lectivos.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25880"/>
            <a:ext cx="3749039" cy="86868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65392" y="1463040"/>
            <a:ext cx="3419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74BF"/>
                </a:solidFill>
              </a:rPr>
              <a:t>Docente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No debe dictar dos cursos al mismo tiempo.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331720"/>
            <a:ext cx="3749039" cy="86868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2468880"/>
            <a:ext cx="3419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5B4D9B"/>
                </a:solidFill>
              </a:rPr>
              <a:t>Ambiente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No puede ser usado por dos grupos en el mismo bloque.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37560"/>
            <a:ext cx="3749039" cy="86868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3474720"/>
            <a:ext cx="3419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5B540"/>
                </a:solidFill>
              </a:rPr>
              <a:t>Turno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Cada ciclo respeta franjas permitidas.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Impacto del proyecto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Reduce riesgos de error frente a la planificación manual.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Centraliza información académica antes dispersa.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Permite revisar propuestas con datos persistentes y reglas claras.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Demuestra integración entre backend, frontend, base de datos y escritorio.</a:t>
            </a:r>
          </a:p>
        </p:txBody>
      </p:sp>
      <p:pic>
        <p:nvPicPr>
          <p:cNvPr id="4" name="Picture 3" descr="schedule_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777240" cy="777240"/>
          </a:xfrm>
          <a:prstGeom prst="rect">
            <a:avLst/>
          </a:prstGeom>
        </p:spPr>
      </p:pic>
      <p:pic>
        <p:nvPicPr>
          <p:cNvPr id="5" name="Picture 4" descr="schedule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554480"/>
            <a:ext cx="872691" cy="777240"/>
          </a:xfrm>
          <a:prstGeom prst="rect">
            <a:avLst/>
          </a:prstGeom>
        </p:spPr>
      </p:pic>
      <p:pic>
        <p:nvPicPr>
          <p:cNvPr id="6" name="Picture 5" descr="schedule_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1554480"/>
            <a:ext cx="753518" cy="777240"/>
          </a:xfrm>
          <a:prstGeom prst="rect">
            <a:avLst/>
          </a:prstGeom>
        </p:spPr>
      </p:pic>
      <p:pic>
        <p:nvPicPr>
          <p:cNvPr id="7" name="Picture 6" descr="schedule_electr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896" y="155448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3931920"/>
            <a:ext cx="4069080" cy="411480"/>
          </a:xfrm>
          <a:prstGeom prst="roundRect">
            <a:avLst/>
          </a:prstGeom>
          <a:solidFill>
            <a:srgbClr val="1D74BF"/>
          </a:solidFill>
          <a:ln>
            <a:solidFill>
              <a:srgbClr val="1D7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Solución funcional para demostración académica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Limitaciones y mejoras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La versión actual está orientada a desarrollo y demostración funcional.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Para producción se recomiendan secretos seguros, migraciones y backups.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También se requiere configuración final de CORS, dominio y empaquetado Electron.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Se pueden añadir reportes, exportación de horarios y optimización automática avanzada.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371600"/>
            <a:ext cx="356616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6832" y="1508760"/>
            <a:ext cx="32369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53D46"/>
                </a:solidFill>
              </a:rPr>
              <a:t>Producción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Seguridad, despliegue y respaldo de datos.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606040"/>
            <a:ext cx="356616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2" y="2743200"/>
            <a:ext cx="32369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5B540"/>
                </a:solidFill>
              </a:rPr>
              <a:t>Mejoras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91E41"/>
                </a:solidFill>
              </a:rPr>
              <a:t>Reportes, exportación y validación avanzada.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Conclusiones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Schedule responde a una necesidad académica concreta: organizar y validar horarios institucionales.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La arquitectura por capas facilita mantenimiento y crecimiento.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PostgreSQL permite trabajar con información real y persistente.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091E41"/>
                </a:solidFill>
              </a:rPr>
              <a:t>Electron mejora la presentación como aplicación de escritorio.</a:t>
            </a:r>
          </a:p>
        </p:txBody>
      </p:sp>
      <p:pic>
        <p:nvPicPr>
          <p:cNvPr id="4" name="Picture 3" descr="logo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34440"/>
            <a:ext cx="1055794" cy="1051560"/>
          </a:xfrm>
          <a:prstGeom prst="rect">
            <a:avLst/>
          </a:prstGeom>
        </p:spPr>
      </p:pic>
      <p:pic>
        <p:nvPicPr>
          <p:cNvPr id="5" name="Picture 4" descr="schedule_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971800"/>
            <a:ext cx="658368" cy="658368"/>
          </a:xfrm>
          <a:prstGeom prst="rect">
            <a:avLst/>
          </a:prstGeom>
        </p:spPr>
      </p:pic>
      <p:pic>
        <p:nvPicPr>
          <p:cNvPr id="6" name="Picture 5" descr="schedule_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2971800"/>
            <a:ext cx="739220" cy="658368"/>
          </a:xfrm>
          <a:prstGeom prst="rect">
            <a:avLst/>
          </a:prstGeom>
        </p:spPr>
      </p:pic>
      <p:pic>
        <p:nvPicPr>
          <p:cNvPr id="7" name="Picture 6" descr="schedule_postgresq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39" y="2971800"/>
            <a:ext cx="638274" cy="658368"/>
          </a:xfrm>
          <a:prstGeom prst="rect">
            <a:avLst/>
          </a:prstGeom>
        </p:spPr>
      </p:pic>
      <p:pic>
        <p:nvPicPr>
          <p:cNvPr id="8" name="Picture 7" descr="schedule_electr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999" y="297180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3100" b="1">
                <a:solidFill>
                  <a:srgbClr val="091E41"/>
                </a:solidFill>
              </a:rPr>
              <a:t>Referencias y créditos visuales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091E41"/>
                </a:solidFill>
              </a:rPr>
              <a:t>Documentación interna del proyecto Schedule: docs/DOCUMENTACION-PRESENTACION-SCHEDULE.docx.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91E41"/>
                </a:solidFill>
              </a:rPr>
              <a:t>Spring Boot logo: Wikimedia Commons, archivo Spring Boot.svg.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91E41"/>
                </a:solidFill>
              </a:rPr>
              <a:t>React logo: Wikimedia Commons, archivo React-icon.svg.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91E41"/>
                </a:solidFill>
              </a:rPr>
              <a:t>PostgreSQL logo: PostgreSQL Wiki, página Logo.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91E41"/>
                </a:solidFill>
              </a:rPr>
              <a:t>Electron logo: Wikimedia Commons, archivo Electron Software Framework Logo.svg.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91E41"/>
                </a:solidFill>
              </a:rPr>
              <a:t>Logo institucional: frontend/src/assets/images/logofi.png.</a:t>
            </a:r>
          </a:p>
        </p:txBody>
      </p:sp>
      <p:pic>
        <p:nvPicPr>
          <p:cNvPr id="4" name="Picture 3" descr="schedule_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658368" cy="658368"/>
          </a:xfrm>
          <a:prstGeom prst="rect">
            <a:avLst/>
          </a:prstGeom>
        </p:spPr>
      </p:pic>
      <p:pic>
        <p:nvPicPr>
          <p:cNvPr id="5" name="Picture 4" descr="schedule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39" y="1645920"/>
            <a:ext cx="739220" cy="658368"/>
          </a:xfrm>
          <a:prstGeom prst="rect">
            <a:avLst/>
          </a:prstGeom>
        </p:spPr>
      </p:pic>
      <p:pic>
        <p:nvPicPr>
          <p:cNvPr id="6" name="Picture 5" descr="schedule_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9" y="1645920"/>
            <a:ext cx="638274" cy="658368"/>
          </a:xfrm>
          <a:prstGeom prst="rect">
            <a:avLst/>
          </a:prstGeom>
        </p:spPr>
      </p:pic>
      <p:pic>
        <p:nvPicPr>
          <p:cNvPr id="7" name="Picture 6" descr="schedule_electr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164592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241</Words>
  <Application>Microsoft Office PowerPoint</Application>
  <PresentationFormat>Panorámica</PresentationFormat>
  <Paragraphs>59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Trebuchet MS</vt:lpstr>
      <vt:lpstr>Arial</vt:lpstr>
      <vt:lpstr>Calibri</vt:lpstr>
      <vt:lpstr>Arial Black</vt:lpstr>
      <vt:lpstr>Times New Roman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Schedule</dc:creator>
  <cp:lastModifiedBy>DANIEL</cp:lastModifiedBy>
  <cp:revision>5</cp:revision>
  <dcterms:created xsi:type="dcterms:W3CDTF">2014-12-24T13:30:46Z</dcterms:created>
  <dcterms:modified xsi:type="dcterms:W3CDTF">2026-07-07T16:38:47Z</dcterms:modified>
  <dc:title>Presentación Schedule Desktop App - versión visual</dc:title>
  <dc:subject>Sistema académico full-stack para gestión de horarios</dc:subject>
</cp:coreProperties>
</file>