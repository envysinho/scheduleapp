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7"/>
    <p:sldId id="257" r:id="rId6"/>
    <p:sldId id="258" r:id="rId5"/>
    <p:sldId id="259" r:id="rId4"/>
    <p:sldId id="260" r:id="rId3"/>
    <p:sldId id="261" r:id="rId2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</p:sldIdLst>
  <p:sldSz cx="12192000" cy="6858000"/>
  <p:notesSz cx="6797675" cy="9926638"/>
  <p:embeddedFontLst>
    <p:embeddedFont>
      <p:font typeface="Arial Black" panose="020B0A04020102020204" pitchFamily="34" charset="0"/>
      <p:regular r:id="rId9"/>
      <p:bold r:id="rId10"/>
    </p:embeddedFont>
    <p:embeddedFont>
      <p:font typeface="Trebuchet MS" panose="020B0603020202020204" pitchFamily="3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" roundtripDataSignature="AMtx7mgkktjOy+o6RHwlapDb8nQ1I5Zu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10"/>
    <p:restoredTop sz="94632"/>
  </p:normalViewPr>
  <p:slideViewPr>
    <p:cSldViewPr snapToGrid="0">
      <p:cViewPr>
        <p:scale>
          <a:sx n="100" d="100"/>
          <a:sy n="100" d="100"/>
        </p:scale>
        <p:origin x="-86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6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customschemas.google.com/relationships/presentationmetadata" Target="metadata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975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P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166cf398b2f_0_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5" name="Google Shape;15;g166cf398b2f_0_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6" name="Google Shape;16;g166cf398b2f_0_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66cf398b2f_0_2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g166cf398b2f_0_2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166cf398b2f_0_23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22" name="Google Shape;22;g166cf398b2f_0_23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g166cf398b2f_0_2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66cf398b2f_0_27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26" name="Google Shape;26;g166cf398b2f_0_2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166cf398b2f_0_30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g166cf398b2f_0_30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30" name="Google Shape;30;g166cf398b2f_0_30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1" name="Google Shape;31;g166cf398b2f_0_30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32" name="Google Shape;32;g166cf398b2f_0_3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66cf398b2f_0_36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35" name="Google Shape;35;g166cf398b2f_0_3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166cf398b2f_0_39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38" name="Google Shape;38;g166cf398b2f_0_39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g166cf398b2f_0_3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66cf398b2f_0_4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166cf398b2f_0_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166cf398b2f_0_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166cf398b2f_0_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/>
              <a:t>Schedule Desktop 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600"/>
              <a:t>Sistema academico full-stack para gestion de horarios</a:t>
            </a:r>
          </a:p>
          <a:p>
            <a:r>
              <a:rPr sz="1600"/>
              <a:t>Spring Boot + React + Electron + PostgreSQL</a:t>
            </a:r>
          </a:p>
          <a:p>
            <a:r>
              <a:rPr sz="1600"/>
              <a:t>Escuela Profesional de Ingenieria de Sistemas</a:t>
            </a:r>
          </a:p>
          <a:p>
            <a:r>
              <a:rPr sz="1600"/>
              <a:t>Julio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Capitulo I: Introduccion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00" b="1"/>
              <a:t>Problema identificado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1900"/>
              <a:t>La elaboracion manual de horarios exige cruzar docentes, cursos, ciclos, turnos, aulas y reglas institucionales.</a:t>
            </a:r>
          </a:p>
          <a:p>
            <a:pPr>
              <a:spcAft>
                <a:spcPts val="500"/>
              </a:spcAft>
            </a:pPr>
            <a:r>
              <a:rPr sz="1900"/>
              <a:t>Los errores comunes son cruces de docentes, ambientes usados al mismo tiempo y cursos fuera de turno permitido.</a:t>
            </a:r>
          </a:p>
          <a:p>
            <a:pPr>
              <a:spcAft>
                <a:spcPts val="500"/>
              </a:spcAft>
            </a:pPr>
            <a:r>
              <a:rPr sz="1900"/>
              <a:t>La informacion suele estar dispersa, lo que dificulta revisar cambios y validar propuestas de horario.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00" b="1"/>
              <a:t>Propuesta de solucion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2600"/>
              <a:t>Schedule centraliza la informacion academica en una plataforma unica.</a:t>
            </a:r>
          </a:p>
          <a:p>
            <a:pPr>
              <a:spcAft>
                <a:spcPts val="500"/>
              </a:spcAft>
            </a:pPr>
            <a:r>
              <a:rPr sz="2600"/>
              <a:t>Permite registrar, consultar y validar usuarios, docentes, cursos, ambientes y reglas horarias.</a:t>
            </a:r>
          </a:p>
          <a:p>
            <a:pPr>
              <a:spcAft>
                <a:spcPts val="500"/>
              </a:spcAft>
            </a:pPr>
            <a:r>
              <a:rPr sz="2600"/>
              <a:t>Integra API REST, interfaz web, persistencia real y ejecucion como aplicacion de escritorio.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00" b="1"/>
              <a:t>Objetivo general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1900"/>
              <a:t>Desarrollar una aplicacion academica capaz de gestionar informacion institucional relacionada con docentes, cursos, ambientes, usuarios y horarios.</a:t>
            </a:r>
          </a:p>
          <a:p>
            <a:pPr>
              <a:spcAft>
                <a:spcPts val="500"/>
              </a:spcAft>
            </a:pPr>
            <a:r>
              <a:rPr sz="1900"/>
              <a:t>Aplicar reglas de negocio para apoyar la generacion y revision de propuestas de horario.</a:t>
            </a:r>
          </a:p>
          <a:p>
            <a:pPr>
              <a:spcAft>
                <a:spcPts val="500"/>
              </a:spcAft>
            </a:pPr>
            <a:r>
              <a:rPr sz="1900"/>
              <a:t>Demostrar una solucion funcional, no solo una maqueta visual.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00" b="1"/>
              <a:t>Objetivos especificos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1900"/>
              <a:t>Implementar una API REST con Spring Boot para administrar entidades academicas.</a:t>
            </a:r>
          </a:p>
          <a:p>
            <a:pPr>
              <a:spcAft>
                <a:spcPts val="500"/>
              </a:spcAft>
            </a:pPr>
            <a:r>
              <a:rPr sz="1900"/>
              <a:t>Persistir informacion real en PostgreSQL.</a:t>
            </a:r>
          </a:p>
          <a:p>
            <a:pPr>
              <a:spcAft>
                <a:spcPts val="500"/>
              </a:spcAft>
            </a:pPr>
            <a:r>
              <a:rPr sz="1900"/>
              <a:t>Proteger rutas con autenticacion JWT y roles de usuario.</a:t>
            </a:r>
          </a:p>
          <a:p>
            <a:pPr>
              <a:spcAft>
                <a:spcPts val="500"/>
              </a:spcAft>
            </a:pPr>
            <a:r>
              <a:rPr sz="1900"/>
              <a:t>Construir una interfaz React para operar el sistema de forma visual.</a:t>
            </a:r>
          </a:p>
          <a:p>
            <a:pPr>
              <a:spcAft>
                <a:spcPts val="500"/>
              </a:spcAft>
            </a:pPr>
            <a:r>
              <a:rPr sz="1900"/>
              <a:t>Integrar la experiencia web en un contenedor Electron para escritorio.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Capitulo II: Metodologia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00" b="1"/>
              <a:t>Arquitectura del sistema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1900"/>
              <a:t>Backend: Spring Boot, arquitectura por capas, controladores REST, servicios, repositorios JPA y seguridad JWT.</a:t>
            </a:r>
          </a:p>
          <a:p>
            <a:pPr>
              <a:spcAft>
                <a:spcPts val="500"/>
              </a:spcAft>
            </a:pPr>
            <a:r>
              <a:rPr sz="1900"/>
              <a:t>Frontend: React con Vite para vistas de administracion y consumo de API.</a:t>
            </a:r>
          </a:p>
          <a:p>
            <a:pPr>
              <a:spcAft>
                <a:spcPts val="500"/>
              </a:spcAft>
            </a:pPr>
            <a:r>
              <a:rPr sz="1900"/>
              <a:t>Desktop: Electron abre la aplicacion frontend como entorno de escritorio.</a:t>
            </a:r>
          </a:p>
          <a:p>
            <a:pPr>
              <a:spcAft>
                <a:spcPts val="500"/>
              </a:spcAft>
            </a:pPr>
            <a:r>
              <a:rPr sz="1900"/>
              <a:t>Base de datos: PostgreSQL 16 levantado con Docker Compose.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00" b="1"/>
              <a:t>Modelo de dominio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1900"/>
              <a:t>Usuarios y roles para controlar el acceso al sistema.</a:t>
            </a:r>
          </a:p>
          <a:p>
            <a:pPr>
              <a:spcAft>
                <a:spcPts val="500"/>
              </a:spcAft>
            </a:pPr>
            <a:r>
              <a:rPr sz="1900"/>
              <a:t>Docentes, cursos, ambientes y jefes de practica como entidades academicas principales.</a:t>
            </a:r>
          </a:p>
          <a:p>
            <a:pPr>
              <a:spcAft>
                <a:spcPts val="500"/>
              </a:spcAft>
            </a:pPr>
            <a:r>
              <a:rPr sz="1900"/>
              <a:t>Asignaciones curso-docente y curso-ambiente para organizar la carga academica.</a:t>
            </a:r>
          </a:p>
          <a:p>
            <a:pPr>
              <a:spcAft>
                <a:spcPts val="500"/>
              </a:spcAft>
            </a:pPr>
            <a:r>
              <a:rPr sz="1900"/>
              <a:t>Reglas horarias, ciclos, turnos y bloques lectivos/no lectivos para validar propuestas.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00" b="1"/>
              <a:t>Backend y API REST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1900"/>
              <a:t>Expone endpoints para autenticacion, usuarios, docentes, cursos, ambientes, reglas y horarios.</a:t>
            </a:r>
          </a:p>
          <a:p>
            <a:pPr>
              <a:spcAft>
                <a:spcPts val="500"/>
              </a:spcAft>
            </a:pPr>
            <a:r>
              <a:rPr sz="1900"/>
              <a:t>Aplica validaciones de negocio antes de persistir cambios.</a:t>
            </a:r>
          </a:p>
          <a:p>
            <a:pPr>
              <a:spcAft>
                <a:spcPts val="500"/>
              </a:spcAft>
            </a:pPr>
            <a:r>
              <a:rPr sz="1900"/>
              <a:t>Usa JPA/Hibernate para mapear entidades relacionales.</a:t>
            </a:r>
          </a:p>
          <a:p>
            <a:pPr>
              <a:spcAft>
                <a:spcPts val="500"/>
              </a:spcAft>
            </a:pPr>
            <a:r>
              <a:rPr sz="1900"/>
              <a:t>Inicializa datos base para facilitar pruebas y demostracion.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00" b="1"/>
              <a:t>Seguridad y control de acceso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2600"/>
              <a:t>El login genera un token JWT para autenticar solicitudes posteriores.</a:t>
            </a:r>
          </a:p>
          <a:p>
            <a:pPr>
              <a:spcAft>
                <a:spcPts val="500"/>
              </a:spcAft>
            </a:pPr>
            <a:r>
              <a:rPr sz="2600"/>
              <a:t>Las rutas protegidas requieren token valido.</a:t>
            </a:r>
          </a:p>
          <a:p>
            <a:pPr>
              <a:spcAft>
                <a:spcPts val="500"/>
              </a:spcAft>
            </a:pPr>
            <a:r>
              <a:rPr sz="2600"/>
              <a:t>Los roles permiten diferenciar permisos de administracion y uso funcional.</a:t>
            </a:r>
          </a:p>
          <a:p>
            <a:pPr>
              <a:spcAft>
                <a:spcPts val="500"/>
              </a:spcAft>
            </a:pPr>
            <a:r>
              <a:rPr sz="2600"/>
              <a:t>El frontend guarda la sesion y adjunta el token en las llamadas HTTP.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00" b="1"/>
              <a:t>Frontend y experiencia de uso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1900"/>
              <a:t>Interfaz visual para administrar usuarios, docentes, cursos, ambientes, horarios y reglas.</a:t>
            </a:r>
          </a:p>
          <a:p>
            <a:pPr>
              <a:spcAft>
                <a:spcPts val="500"/>
              </a:spcAft>
            </a:pPr>
            <a:r>
              <a:rPr sz="1900"/>
              <a:t>Cliente HTTP centralizado para consumir el backend.</a:t>
            </a:r>
          </a:p>
          <a:p>
            <a:pPr>
              <a:spcAft>
                <a:spcPts val="500"/>
              </a:spcAft>
            </a:pPr>
            <a:r>
              <a:rPr sz="1900"/>
              <a:t>Validaciones de interfaz antes de enviar datos al servidor.</a:t>
            </a:r>
          </a:p>
          <a:p>
            <a:pPr>
              <a:spcAft>
                <a:spcPts val="500"/>
              </a:spcAft>
            </a:pPr>
            <a:r>
              <a:rPr sz="1900"/>
              <a:t>Vistas orientadas a operacion academica y demostracion funcional.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00" b="1"/>
              <a:t>Persistencia y entorno de ejecucion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2600"/>
              <a:t>PostgreSQL almacena datos reales del sistema.</a:t>
            </a:r>
          </a:p>
          <a:p>
            <a:pPr>
              <a:spcAft>
                <a:spcPts val="500"/>
              </a:spcAft>
            </a:pPr>
            <a:r>
              <a:rPr sz="2600"/>
              <a:t>Docker Compose facilita levantar la base de datos localmente.</a:t>
            </a:r>
          </a:p>
          <a:p>
            <a:pPr>
              <a:spcAft>
                <a:spcPts val="500"/>
              </a:spcAft>
            </a:pPr>
            <a:r>
              <a:rPr sz="2600"/>
              <a:t>El volumen Docker conserva la informacion entre reinicios.</a:t>
            </a:r>
          </a:p>
          <a:p>
            <a:pPr>
              <a:spcAft>
                <a:spcPts val="500"/>
              </a:spcAft>
            </a:pPr>
            <a:r>
              <a:rPr sz="2600"/>
              <a:t>La ejecucion en desarrollo combina base de datos, backend, frontend y Electron.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Capitulo III: Resultado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00" b="1"/>
              <a:t>Funcionalidades logradas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1900"/>
              <a:t>Autenticacion con JWT y manejo de roles.</a:t>
            </a:r>
          </a:p>
          <a:p>
            <a:pPr>
              <a:spcAft>
                <a:spcPts val="500"/>
              </a:spcAft>
            </a:pPr>
            <a:r>
              <a:rPr sz="1900"/>
              <a:t>Gestion de usuarios, docentes, cursos, ambientes y reglas horarias.</a:t>
            </a:r>
          </a:p>
          <a:p>
            <a:pPr>
              <a:spcAft>
                <a:spcPts val="500"/>
              </a:spcAft>
            </a:pPr>
            <a:r>
              <a:rPr sz="1900"/>
              <a:t>Asignacion de docentes y ambientes a cursos.</a:t>
            </a:r>
          </a:p>
          <a:p>
            <a:pPr>
              <a:spcAft>
                <a:spcPts val="500"/>
              </a:spcAft>
            </a:pPr>
            <a:r>
              <a:rPr sz="1900"/>
              <a:t>Visualizacion y generacion de propuestas de horario por ciclo.</a:t>
            </a:r>
          </a:p>
          <a:p>
            <a:pPr>
              <a:spcAft>
                <a:spcPts val="500"/>
              </a:spcAft>
            </a:pPr>
            <a:r>
              <a:rPr sz="1900"/>
              <a:t>Documentacion tecnica y funcional para instalacion, ejecucion y mantenimiento.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00" b="1"/>
              <a:t>Reglas academicas implementadas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2600"/>
              <a:t>Control de disponibilidad de docentes y ambientes.</a:t>
            </a:r>
          </a:p>
          <a:p>
            <a:pPr>
              <a:spcAft>
                <a:spcPts val="500"/>
              </a:spcAft>
            </a:pPr>
            <a:r>
              <a:rPr sz="2600"/>
              <a:t>Organizacion por ciclos, turnos y bloques academicos.</a:t>
            </a:r>
          </a:p>
          <a:p>
            <a:pPr>
              <a:spcAft>
                <a:spcPts val="500"/>
              </a:spcAft>
            </a:pPr>
            <a:r>
              <a:rPr sz="2600"/>
              <a:t>Prevencion de cruces o asignaciones incompatibles.</a:t>
            </a:r>
          </a:p>
          <a:p>
            <a:pPr>
              <a:spcAft>
                <a:spcPts val="500"/>
              </a:spcAft>
            </a:pPr>
            <a:r>
              <a:rPr sz="2600"/>
              <a:t>Separacion entre bloques lectivos y no lectivos.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00" b="1"/>
              <a:t>Impacto del proyecto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2600"/>
              <a:t>Reduce riesgos de error frente a la planificacion manual.</a:t>
            </a:r>
          </a:p>
          <a:p>
            <a:pPr>
              <a:spcAft>
                <a:spcPts val="500"/>
              </a:spcAft>
            </a:pPr>
            <a:r>
              <a:rPr sz="2600"/>
              <a:t>Centraliza informacion academica antes dispersa.</a:t>
            </a:r>
          </a:p>
          <a:p>
            <a:pPr>
              <a:spcAft>
                <a:spcPts val="500"/>
              </a:spcAft>
            </a:pPr>
            <a:r>
              <a:rPr sz="2600"/>
              <a:t>Permite revisar propuestas con datos persistentes y reglas claras.</a:t>
            </a:r>
          </a:p>
          <a:p>
            <a:pPr>
              <a:spcAft>
                <a:spcPts val="500"/>
              </a:spcAft>
            </a:pPr>
            <a:r>
              <a:rPr sz="2600"/>
              <a:t>Demuestra integracion full-stack con backend, frontend, base de datos y escritorio.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00" b="1"/>
              <a:t>Limitaciones actuales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1900"/>
              <a:t>El sistema esta preparado principalmente para desarrollo y demostracion funcional.</a:t>
            </a:r>
          </a:p>
          <a:p>
            <a:pPr>
              <a:spcAft>
                <a:spcPts val="500"/>
              </a:spcAft>
            </a:pPr>
            <a:r>
              <a:rPr sz="1900"/>
              <a:t>Para produccion se recomiendan secretos seguros, migraciones, backups y politicas CORS definitivas.</a:t>
            </a:r>
          </a:p>
          <a:p>
            <a:pPr>
              <a:spcAft>
                <a:spcPts val="500"/>
              </a:spcAft>
            </a:pPr>
            <a:r>
              <a:rPr sz="1900"/>
              <a:t>Tambien se requiere empaquetado final de Electron y configuracion de dominio si se publica en red.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00" b="1"/>
              <a:t>Conclusiones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1900"/>
              <a:t>Schedule resuelve una necesidad academica concreta: organizar y validar horarios institucionales.</a:t>
            </a:r>
          </a:p>
          <a:p>
            <a:pPr>
              <a:spcAft>
                <a:spcPts val="500"/>
              </a:spcAft>
            </a:pPr>
            <a:r>
              <a:rPr sz="1900"/>
              <a:t>La arquitectura por capas facilita mantenimiento y crecimiento del sistema.</a:t>
            </a:r>
          </a:p>
          <a:p>
            <a:pPr>
              <a:spcAft>
                <a:spcPts val="500"/>
              </a:spcAft>
            </a:pPr>
            <a:r>
              <a:rPr sz="1900"/>
              <a:t>El uso de PostgreSQL permite trabajar con informacion real y persistente.</a:t>
            </a:r>
          </a:p>
          <a:p>
            <a:pPr>
              <a:spcAft>
                <a:spcPts val="500"/>
              </a:spcAft>
            </a:pPr>
            <a:r>
              <a:rPr sz="1900"/>
              <a:t>La integracion con Electron mejora la presentacion como aplicacion de escritorio.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00" b="1"/>
              <a:t>Referencias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1900"/>
              <a:t>Documentacion interna del proyecto Schedule.</a:t>
            </a:r>
          </a:p>
          <a:p>
            <a:pPr>
              <a:spcAft>
                <a:spcPts val="500"/>
              </a:spcAft>
            </a:pPr>
            <a:r>
              <a:rPr sz="1900"/>
              <a:t>Spring Boot: desarrollo de APIs REST y seguridad.</a:t>
            </a:r>
          </a:p>
          <a:p>
            <a:pPr>
              <a:spcAft>
                <a:spcPts val="500"/>
              </a:spcAft>
            </a:pPr>
            <a:r>
              <a:rPr sz="1900"/>
              <a:t>React y Vite: construccion de interfaces web modernas.</a:t>
            </a:r>
          </a:p>
          <a:p>
            <a:pPr>
              <a:spcAft>
                <a:spcPts val="500"/>
              </a:spcAft>
            </a:pPr>
            <a:r>
              <a:rPr sz="1900"/>
              <a:t>PostgreSQL y Docker Compose: persistencia y entorno local.</a:t>
            </a:r>
          </a:p>
          <a:p>
            <a:pPr>
              <a:spcAft>
                <a:spcPts val="500"/>
              </a:spcAft>
            </a:pPr>
            <a:r>
              <a:rPr sz="1900"/>
              <a:t>Electron: empaquetado de aplicaciones de escritorio.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00" b="1"/>
              <a:t>Anexos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2600"/>
              <a:t>Repositorio estructurado en backend, frontend, desktop y docs.</a:t>
            </a:r>
          </a:p>
          <a:p>
            <a:pPr>
              <a:spcAft>
                <a:spcPts val="500"/>
              </a:spcAft>
            </a:pPr>
            <a:r>
              <a:rPr sz="2600"/>
              <a:t>Archivos clave: docker-compose.yml, backend/pom.xml, frontend/package.json y desktop/main.js.</a:t>
            </a:r>
          </a:p>
          <a:p>
            <a:pPr>
              <a:spcAft>
                <a:spcPts val="500"/>
              </a:spcAft>
            </a:pPr>
            <a:r>
              <a:rPr sz="2600"/>
              <a:t>Documentos complementarios disponibles en la carpeta docs/.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241</Words>
  <Application>Microsoft Office PowerPoint</Application>
  <PresentationFormat>Panorámica</PresentationFormat>
  <Paragraphs>59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Trebuchet MS</vt:lpstr>
      <vt:lpstr>Arial</vt:lpstr>
      <vt:lpstr>Calibri</vt:lpstr>
      <vt:lpstr>Arial Black</vt:lpstr>
      <vt:lpstr>Times New Roman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Schedule</dc:creator>
  <cp:lastModifiedBy>DANIEL</cp:lastModifiedBy>
  <cp:revision>5</cp:revision>
  <dcterms:created xsi:type="dcterms:W3CDTF">2014-12-24T13:30:46Z</dcterms:created>
  <dcterms:modified xsi:type="dcterms:W3CDTF">2026-07-07T16:38:47Z</dcterms:modified>
  <dc:title>Presentacion Schedule Desktop App</dc:title>
  <dc:subject>Sistema academico full-stack para gestion de horarios</dc:subject>
</cp:coreProperties>
</file>